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elleza" charset="1" panose="020005030500000200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https://www.minsal.cl/minsal-presento-resultados-de-la-encavi-2023-2024-proporcionando-una-linea-base-crucial-para-futuras-evaluaciones-2/" TargetMode="External" Type="http://schemas.openxmlformats.org/officeDocument/2006/relationships/hyperlink"/><Relationship Id="rId6" Target="https://blog.desuc.cl/posts/2025-08-11-encavi-resultados/encavi_resultados.html" TargetMode="External" Type="http://schemas.openxmlformats.org/officeDocument/2006/relationships/hyperlink"/><Relationship Id="rId7" Target="https://www.cienciaenchile.cl/estudio-revela-brechas-en-el-conocimiento-de-la-biodiversidad-en-la-provincia-de-concepcion" TargetMode="External" Type="http://schemas.openxmlformats.org/officeDocument/2006/relationships/hyperlink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l.pinterest.com/juarrsal/queltehue-treile/" TargetMode="External" Type="http://schemas.openxmlformats.org/officeDocument/2006/relationships/hyperlink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https://www.mhnconcepcion.gob.cl/noticias/el-abejorro-colorado" TargetMode="External" Type="http://schemas.openxmlformats.org/officeDocument/2006/relationships/hyperlink"/><Relationship Id="rId6" Target="https://www.meteored.cl/noticias/plantas/la-flor-que-espera-bajo-tierra-asi-sobrevive-la-ananuca-antes-de-estallar-en-color-en-el-norte-chico.html" TargetMode="External" Type="http://schemas.openxmlformats.org/officeDocument/2006/relationships/hyperlink"/><Relationship Id="rId7" Target="https://fundacion.buinzoo.cl/zorro-de-darwin/" TargetMode="External" Type="http://schemas.openxmlformats.org/officeDocument/2006/relationships/hyperlink"/><Relationship Id="rId8" Target="https://ebird.org/species/moutur1?siteLanguage=es_CL&amp;continue" TargetMode="External" Type="http://schemas.openxmlformats.org/officeDocument/2006/relationships/hyperlink"/><Relationship Id="rId9" Target="https://mma.gob.cl/implementan-acciones-de-mitigacion-para-conservar-arbol-mas-amenazado-de-chile-el-ruil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76329">
            <a:off x="14761870" y="940140"/>
            <a:ext cx="4590475" cy="3360523"/>
          </a:xfrm>
          <a:custGeom>
            <a:avLst/>
            <a:gdLst/>
            <a:ahLst/>
            <a:cxnLst/>
            <a:rect r="r" b="b" t="t" l="l"/>
            <a:pathLst>
              <a:path h="3360523" w="4590475">
                <a:moveTo>
                  <a:pt x="0" y="0"/>
                </a:moveTo>
                <a:lnTo>
                  <a:pt x="4590475" y="0"/>
                </a:lnTo>
                <a:lnTo>
                  <a:pt x="4590475" y="3360524"/>
                </a:lnTo>
                <a:lnTo>
                  <a:pt x="0" y="3360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308653" y="8088681"/>
            <a:ext cx="856792" cy="3652989"/>
          </a:xfrm>
          <a:custGeom>
            <a:avLst/>
            <a:gdLst/>
            <a:ahLst/>
            <a:cxnLst/>
            <a:rect r="r" b="b" t="t" l="l"/>
            <a:pathLst>
              <a:path h="3652989" w="856792">
                <a:moveTo>
                  <a:pt x="0" y="0"/>
                </a:moveTo>
                <a:lnTo>
                  <a:pt x="856792" y="0"/>
                </a:lnTo>
                <a:lnTo>
                  <a:pt x="856792" y="3652989"/>
                </a:lnTo>
                <a:lnTo>
                  <a:pt x="0" y="36529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026720" y="4587560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0" y="0"/>
                </a:moveTo>
                <a:lnTo>
                  <a:pt x="3509329" y="0"/>
                </a:lnTo>
                <a:lnTo>
                  <a:pt x="3509329" y="7002242"/>
                </a:lnTo>
                <a:lnTo>
                  <a:pt x="0" y="7002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012508">
            <a:off x="2022722" y="7921016"/>
            <a:ext cx="1118875" cy="3123764"/>
          </a:xfrm>
          <a:custGeom>
            <a:avLst/>
            <a:gdLst/>
            <a:ahLst/>
            <a:cxnLst/>
            <a:rect r="r" b="b" t="t" l="l"/>
            <a:pathLst>
              <a:path h="3123764" w="1118875">
                <a:moveTo>
                  <a:pt x="0" y="0"/>
                </a:moveTo>
                <a:lnTo>
                  <a:pt x="1118875" y="0"/>
                </a:lnTo>
                <a:lnTo>
                  <a:pt x="1118875" y="3123764"/>
                </a:lnTo>
                <a:lnTo>
                  <a:pt x="0" y="31237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-927169" y="6414055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29" y="0"/>
                </a:moveTo>
                <a:lnTo>
                  <a:pt x="0" y="0"/>
                </a:lnTo>
                <a:lnTo>
                  <a:pt x="0" y="7002242"/>
                </a:lnTo>
                <a:lnTo>
                  <a:pt x="3509329" y="7002242"/>
                </a:lnTo>
                <a:lnTo>
                  <a:pt x="350932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358120" y="3098290"/>
            <a:ext cx="10950533" cy="137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7"/>
              </a:lnSpc>
            </a:pPr>
            <a:r>
              <a:rPr lang="en-US" sz="10360" spc="-29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CHILEDEX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550624" y="7248441"/>
            <a:ext cx="4622010" cy="2234457"/>
            <a:chOff x="0" y="0"/>
            <a:chExt cx="6162681" cy="297927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1902821" cy="503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Integrantes: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080621" y="-19050"/>
              <a:ext cx="4082060" cy="1544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Ignacio Correa Ramírez</a:t>
              </a:r>
            </a:p>
            <a:p>
              <a:pPr algn="just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Narayani García Chamorro</a:t>
              </a:r>
            </a:p>
            <a:p>
              <a:pPr algn="just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Alonso Vidal Moreno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692838"/>
              <a:ext cx="1515565" cy="503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Docente: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80621" y="1692838"/>
              <a:ext cx="3556139" cy="503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Rocio Contreras Aguila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476102"/>
              <a:ext cx="1725933" cy="503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Asignatura: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080621" y="2476102"/>
              <a:ext cx="1533199" cy="503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6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Capstone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55674" y="6132266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29" y="0"/>
                </a:moveTo>
                <a:lnTo>
                  <a:pt x="0" y="0"/>
                </a:lnTo>
                <a:lnTo>
                  <a:pt x="0" y="7002243"/>
                </a:lnTo>
                <a:lnTo>
                  <a:pt x="3509329" y="7002243"/>
                </a:lnTo>
                <a:lnTo>
                  <a:pt x="35093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31653" y="1548136"/>
            <a:ext cx="3484543" cy="3595364"/>
            <a:chOff x="0" y="0"/>
            <a:chExt cx="78774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747" cy="812800"/>
            </a:xfrm>
            <a:custGeom>
              <a:avLst/>
              <a:gdLst/>
              <a:ahLst/>
              <a:cxnLst/>
              <a:rect r="r" b="b" t="t" l="l"/>
              <a:pathLst>
                <a:path h="812800" w="787747">
                  <a:moveTo>
                    <a:pt x="262724" y="19070"/>
                  </a:moveTo>
                  <a:cubicBezTo>
                    <a:pt x="302980" y="7556"/>
                    <a:pt x="349023" y="0"/>
                    <a:pt x="394085" y="0"/>
                  </a:cubicBezTo>
                  <a:cubicBezTo>
                    <a:pt x="439149" y="0"/>
                    <a:pt x="482512" y="6476"/>
                    <a:pt x="522472" y="17990"/>
                  </a:cubicBezTo>
                  <a:cubicBezTo>
                    <a:pt x="523323" y="18350"/>
                    <a:pt x="524173" y="18350"/>
                    <a:pt x="525023" y="18710"/>
                  </a:cubicBezTo>
                  <a:cubicBezTo>
                    <a:pt x="675090" y="64765"/>
                    <a:pt x="785621" y="186379"/>
                    <a:pt x="787747" y="328502"/>
                  </a:cubicBezTo>
                  <a:lnTo>
                    <a:pt x="78774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2126" y="185660"/>
                    <a:pt x="110956" y="64045"/>
                    <a:pt x="262724" y="19070"/>
                  </a:cubicBezTo>
                  <a:close/>
                </a:path>
              </a:pathLst>
            </a:custGeom>
            <a:blipFill>
              <a:blip r:embed="rId6"/>
              <a:stretch>
                <a:fillRect l="-18786" t="0" r="-1878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087796" y="1548136"/>
            <a:ext cx="3484543" cy="3595364"/>
            <a:chOff x="0" y="0"/>
            <a:chExt cx="78774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7747" cy="812800"/>
            </a:xfrm>
            <a:custGeom>
              <a:avLst/>
              <a:gdLst/>
              <a:ahLst/>
              <a:cxnLst/>
              <a:rect r="r" b="b" t="t" l="l"/>
              <a:pathLst>
                <a:path h="812800" w="787747">
                  <a:moveTo>
                    <a:pt x="262724" y="19070"/>
                  </a:moveTo>
                  <a:cubicBezTo>
                    <a:pt x="302980" y="7556"/>
                    <a:pt x="349023" y="0"/>
                    <a:pt x="394085" y="0"/>
                  </a:cubicBezTo>
                  <a:cubicBezTo>
                    <a:pt x="439149" y="0"/>
                    <a:pt x="482512" y="6476"/>
                    <a:pt x="522472" y="17990"/>
                  </a:cubicBezTo>
                  <a:cubicBezTo>
                    <a:pt x="523323" y="18350"/>
                    <a:pt x="524173" y="18350"/>
                    <a:pt x="525023" y="18710"/>
                  </a:cubicBezTo>
                  <a:cubicBezTo>
                    <a:pt x="675090" y="64765"/>
                    <a:pt x="785621" y="186379"/>
                    <a:pt x="787747" y="328502"/>
                  </a:cubicBezTo>
                  <a:lnTo>
                    <a:pt x="78774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2126" y="185660"/>
                    <a:pt x="110956" y="64045"/>
                    <a:pt x="262724" y="19070"/>
                  </a:cubicBezTo>
                  <a:close/>
                </a:path>
              </a:pathLst>
            </a:custGeom>
            <a:blipFill>
              <a:blip r:embed="rId7"/>
              <a:stretch>
                <a:fillRect l="-27385" t="0" r="-2738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83023" y="1548136"/>
            <a:ext cx="3484543" cy="3595364"/>
            <a:chOff x="0" y="0"/>
            <a:chExt cx="78774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747" cy="812800"/>
            </a:xfrm>
            <a:custGeom>
              <a:avLst/>
              <a:gdLst/>
              <a:ahLst/>
              <a:cxnLst/>
              <a:rect r="r" b="b" t="t" l="l"/>
              <a:pathLst>
                <a:path h="812800" w="787747">
                  <a:moveTo>
                    <a:pt x="262724" y="19070"/>
                  </a:moveTo>
                  <a:cubicBezTo>
                    <a:pt x="302980" y="7556"/>
                    <a:pt x="349023" y="0"/>
                    <a:pt x="394085" y="0"/>
                  </a:cubicBezTo>
                  <a:cubicBezTo>
                    <a:pt x="439149" y="0"/>
                    <a:pt x="482512" y="6476"/>
                    <a:pt x="522472" y="17990"/>
                  </a:cubicBezTo>
                  <a:cubicBezTo>
                    <a:pt x="523323" y="18350"/>
                    <a:pt x="524173" y="18350"/>
                    <a:pt x="525023" y="18710"/>
                  </a:cubicBezTo>
                  <a:cubicBezTo>
                    <a:pt x="675090" y="64765"/>
                    <a:pt x="785621" y="186379"/>
                    <a:pt x="787747" y="328502"/>
                  </a:cubicBezTo>
                  <a:lnTo>
                    <a:pt x="78774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2126" y="185660"/>
                    <a:pt x="110956" y="64045"/>
                    <a:pt x="262724" y="19070"/>
                  </a:cubicBezTo>
                  <a:close/>
                </a:path>
              </a:pathLst>
            </a:custGeom>
            <a:blipFill>
              <a:blip r:embed="rId8"/>
              <a:stretch>
                <a:fillRect l="-9621" t="0" r="-12425" b="-235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80823" y="5348349"/>
            <a:ext cx="3484543" cy="3595364"/>
            <a:chOff x="0" y="0"/>
            <a:chExt cx="787747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747" cy="812800"/>
            </a:xfrm>
            <a:custGeom>
              <a:avLst/>
              <a:gdLst/>
              <a:ahLst/>
              <a:cxnLst/>
              <a:rect r="r" b="b" t="t" l="l"/>
              <a:pathLst>
                <a:path h="812800" w="787747">
                  <a:moveTo>
                    <a:pt x="262724" y="19070"/>
                  </a:moveTo>
                  <a:cubicBezTo>
                    <a:pt x="302980" y="7556"/>
                    <a:pt x="349023" y="0"/>
                    <a:pt x="394085" y="0"/>
                  </a:cubicBezTo>
                  <a:cubicBezTo>
                    <a:pt x="439149" y="0"/>
                    <a:pt x="482512" y="6476"/>
                    <a:pt x="522472" y="17990"/>
                  </a:cubicBezTo>
                  <a:cubicBezTo>
                    <a:pt x="523323" y="18350"/>
                    <a:pt x="524173" y="18350"/>
                    <a:pt x="525023" y="18710"/>
                  </a:cubicBezTo>
                  <a:cubicBezTo>
                    <a:pt x="675090" y="64765"/>
                    <a:pt x="785621" y="186379"/>
                    <a:pt x="787747" y="328502"/>
                  </a:cubicBezTo>
                  <a:lnTo>
                    <a:pt x="78774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2126" y="185660"/>
                    <a:pt x="110956" y="64045"/>
                    <a:pt x="262724" y="19070"/>
                  </a:cubicBezTo>
                  <a:close/>
                </a:path>
              </a:pathLst>
            </a:custGeom>
            <a:blipFill>
              <a:blip r:embed="rId9"/>
              <a:stretch>
                <a:fillRect l="-23372" t="0" r="-2337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27585" y="5253973"/>
            <a:ext cx="3484543" cy="3595364"/>
            <a:chOff x="0" y="0"/>
            <a:chExt cx="787747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7747" cy="812800"/>
            </a:xfrm>
            <a:custGeom>
              <a:avLst/>
              <a:gdLst/>
              <a:ahLst/>
              <a:cxnLst/>
              <a:rect r="r" b="b" t="t" l="l"/>
              <a:pathLst>
                <a:path h="812800" w="787747">
                  <a:moveTo>
                    <a:pt x="262724" y="19070"/>
                  </a:moveTo>
                  <a:cubicBezTo>
                    <a:pt x="302980" y="7556"/>
                    <a:pt x="349023" y="0"/>
                    <a:pt x="394085" y="0"/>
                  </a:cubicBezTo>
                  <a:cubicBezTo>
                    <a:pt x="439149" y="0"/>
                    <a:pt x="482512" y="6476"/>
                    <a:pt x="522472" y="17990"/>
                  </a:cubicBezTo>
                  <a:cubicBezTo>
                    <a:pt x="523323" y="18350"/>
                    <a:pt x="524173" y="18350"/>
                    <a:pt x="525023" y="18710"/>
                  </a:cubicBezTo>
                  <a:cubicBezTo>
                    <a:pt x="675090" y="64765"/>
                    <a:pt x="785621" y="186379"/>
                    <a:pt x="787747" y="328502"/>
                  </a:cubicBezTo>
                  <a:lnTo>
                    <a:pt x="78774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2126" y="185660"/>
                    <a:pt x="110956" y="64045"/>
                    <a:pt x="262724" y="19070"/>
                  </a:cubicBezTo>
                  <a:close/>
                </a:path>
              </a:pathLst>
            </a:custGeom>
            <a:blipFill>
              <a:blip r:embed="rId10"/>
              <a:stretch>
                <a:fillRect l="-14286" t="0" r="-14286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2595" y="1813175"/>
            <a:ext cx="8066432" cy="86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92"/>
              </a:lnSpc>
            </a:pPr>
            <a:r>
              <a:rPr lang="en-US" sz="7200" spc="-201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Contexto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2595" y="3227954"/>
            <a:ext cx="1156234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Más del 51% de la población chilena es físicamente inactiva y un 33% no realiza ningún tipo de actividad física (ENCAVI 2023–2024, MINSAL + DESUC UC).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2595" y="4336030"/>
            <a:ext cx="10398373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Estas cifras representan un retroceso respecto a mediciones anteriores (ENCAVI 2015–2016).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595" y="5444106"/>
            <a:ext cx="1151483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Chile alberga ~30.000 especies, con un 25% de endemismo, uno de los patrimonios naturales más singulares del mundo (Ministerio del Medio Ambiente)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2595" y="6552181"/>
            <a:ext cx="1151483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Existe una brecha significativa en el reconocimiento de flora y fauna local, incluso entre quienes frecuentan la naturaleza (Carolina Hidalgo, revista Diversity,  UCSC).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432288" y="2482103"/>
            <a:ext cx="4368102" cy="4987654"/>
            <a:chOff x="0" y="0"/>
            <a:chExt cx="603434" cy="6890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3434" cy="689022"/>
            </a:xfrm>
            <a:custGeom>
              <a:avLst/>
              <a:gdLst/>
              <a:ahLst/>
              <a:cxnLst/>
              <a:rect r="r" b="b" t="t" l="l"/>
              <a:pathLst>
                <a:path h="689022" w="603434">
                  <a:moveTo>
                    <a:pt x="201253" y="19070"/>
                  </a:moveTo>
                  <a:cubicBezTo>
                    <a:pt x="232090" y="7556"/>
                    <a:pt x="267361" y="0"/>
                    <a:pt x="301880" y="0"/>
                  </a:cubicBezTo>
                  <a:cubicBezTo>
                    <a:pt x="336399" y="0"/>
                    <a:pt x="369616" y="6476"/>
                    <a:pt x="400226" y="17990"/>
                  </a:cubicBezTo>
                  <a:cubicBezTo>
                    <a:pt x="400879" y="18350"/>
                    <a:pt x="401530" y="18350"/>
                    <a:pt x="402181" y="18710"/>
                  </a:cubicBezTo>
                  <a:cubicBezTo>
                    <a:pt x="517136" y="64765"/>
                    <a:pt x="601806" y="186379"/>
                    <a:pt x="603434" y="325753"/>
                  </a:cubicBezTo>
                  <a:lnTo>
                    <a:pt x="603434" y="689022"/>
                  </a:lnTo>
                  <a:lnTo>
                    <a:pt x="0" y="689022"/>
                  </a:lnTo>
                  <a:lnTo>
                    <a:pt x="0" y="326022"/>
                  </a:lnTo>
                  <a:cubicBezTo>
                    <a:pt x="1628" y="185660"/>
                    <a:pt x="84995" y="64045"/>
                    <a:pt x="201253" y="19070"/>
                  </a:cubicBezTo>
                  <a:close/>
                </a:path>
              </a:pathLst>
            </a:custGeom>
            <a:blipFill>
              <a:blip r:embed="rId4"/>
              <a:stretch>
                <a:fillRect l="-46812" t="0" r="-5432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557526" y="7992517"/>
            <a:ext cx="3579221" cy="5051405"/>
          </a:xfrm>
          <a:custGeom>
            <a:avLst/>
            <a:gdLst/>
            <a:ahLst/>
            <a:cxnLst/>
            <a:rect r="r" b="b" t="t" l="l"/>
            <a:pathLst>
              <a:path h="5051405" w="3579221">
                <a:moveTo>
                  <a:pt x="0" y="0"/>
                </a:moveTo>
                <a:lnTo>
                  <a:pt x="3579221" y="0"/>
                </a:lnTo>
                <a:lnTo>
                  <a:pt x="3579221" y="5051405"/>
                </a:lnTo>
                <a:lnTo>
                  <a:pt x="0" y="505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345899" y="7761298"/>
            <a:ext cx="3579221" cy="5051405"/>
          </a:xfrm>
          <a:custGeom>
            <a:avLst/>
            <a:gdLst/>
            <a:ahLst/>
            <a:cxnLst/>
            <a:rect r="r" b="b" t="t" l="l"/>
            <a:pathLst>
              <a:path h="5051405" w="3579221">
                <a:moveTo>
                  <a:pt x="0" y="0"/>
                </a:moveTo>
                <a:lnTo>
                  <a:pt x="3579221" y="0"/>
                </a:lnTo>
                <a:lnTo>
                  <a:pt x="3579221" y="5051404"/>
                </a:lnTo>
                <a:lnTo>
                  <a:pt x="0" y="5051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true" flipV="false" rot="0">
            <a:off x="-951804" y="6356237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30" y="0"/>
                </a:moveTo>
                <a:lnTo>
                  <a:pt x="0" y="0"/>
                </a:lnTo>
                <a:lnTo>
                  <a:pt x="0" y="7002243"/>
                </a:lnTo>
                <a:lnTo>
                  <a:pt x="3509330" y="7002243"/>
                </a:lnTo>
                <a:lnTo>
                  <a:pt x="350933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2595" y="6371103"/>
            <a:ext cx="1151483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Integra tres pilares en una sola plataforma: educación ambiental, identificación de especies y motivación para explorar el entorno natural.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557526" y="7992517"/>
            <a:ext cx="3579221" cy="5051405"/>
          </a:xfrm>
          <a:custGeom>
            <a:avLst/>
            <a:gdLst/>
            <a:ahLst/>
            <a:cxnLst/>
            <a:rect r="r" b="b" t="t" l="l"/>
            <a:pathLst>
              <a:path h="5051405" w="3579221">
                <a:moveTo>
                  <a:pt x="0" y="0"/>
                </a:moveTo>
                <a:lnTo>
                  <a:pt x="3579221" y="0"/>
                </a:lnTo>
                <a:lnTo>
                  <a:pt x="3579221" y="5051405"/>
                </a:lnTo>
                <a:lnTo>
                  <a:pt x="0" y="5051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345899" y="7761298"/>
            <a:ext cx="3579221" cy="5051405"/>
          </a:xfrm>
          <a:custGeom>
            <a:avLst/>
            <a:gdLst/>
            <a:ahLst/>
            <a:cxnLst/>
            <a:rect r="r" b="b" t="t" l="l"/>
            <a:pathLst>
              <a:path h="5051405" w="3579221">
                <a:moveTo>
                  <a:pt x="0" y="0"/>
                </a:moveTo>
                <a:lnTo>
                  <a:pt x="3579221" y="0"/>
                </a:lnTo>
                <a:lnTo>
                  <a:pt x="3579221" y="5051404"/>
                </a:lnTo>
                <a:lnTo>
                  <a:pt x="0" y="5051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-951804" y="6356237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30" y="0"/>
                </a:moveTo>
                <a:lnTo>
                  <a:pt x="0" y="0"/>
                </a:lnTo>
                <a:lnTo>
                  <a:pt x="0" y="7002243"/>
                </a:lnTo>
                <a:lnTo>
                  <a:pt x="3509330" y="7002243"/>
                </a:lnTo>
                <a:lnTo>
                  <a:pt x="35093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3432288" y="2482103"/>
            <a:ext cx="4368102" cy="4987654"/>
            <a:chOff x="0" y="0"/>
            <a:chExt cx="603434" cy="6890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3434" cy="689022"/>
            </a:xfrm>
            <a:custGeom>
              <a:avLst/>
              <a:gdLst/>
              <a:ahLst/>
              <a:cxnLst/>
              <a:rect r="r" b="b" t="t" l="l"/>
              <a:pathLst>
                <a:path h="689022" w="603434">
                  <a:moveTo>
                    <a:pt x="201253" y="19070"/>
                  </a:moveTo>
                  <a:cubicBezTo>
                    <a:pt x="232090" y="7556"/>
                    <a:pt x="267361" y="0"/>
                    <a:pt x="301880" y="0"/>
                  </a:cubicBezTo>
                  <a:cubicBezTo>
                    <a:pt x="336399" y="0"/>
                    <a:pt x="369616" y="6476"/>
                    <a:pt x="400226" y="17990"/>
                  </a:cubicBezTo>
                  <a:cubicBezTo>
                    <a:pt x="400879" y="18350"/>
                    <a:pt x="401530" y="18350"/>
                    <a:pt x="402181" y="18710"/>
                  </a:cubicBezTo>
                  <a:cubicBezTo>
                    <a:pt x="517136" y="64765"/>
                    <a:pt x="601806" y="186379"/>
                    <a:pt x="603434" y="325753"/>
                  </a:cubicBezTo>
                  <a:lnTo>
                    <a:pt x="603434" y="689022"/>
                  </a:lnTo>
                  <a:lnTo>
                    <a:pt x="0" y="689022"/>
                  </a:lnTo>
                  <a:lnTo>
                    <a:pt x="0" y="326022"/>
                  </a:lnTo>
                  <a:cubicBezTo>
                    <a:pt x="1628" y="185660"/>
                    <a:pt x="84995" y="64045"/>
                    <a:pt x="201253" y="19070"/>
                  </a:cubicBezTo>
                  <a:close/>
                </a:path>
              </a:pathLst>
            </a:custGeom>
            <a:blipFill>
              <a:blip r:embed="rId8"/>
              <a:stretch>
                <a:fillRect l="0" t="-9475" r="0" b="-947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92595" y="1813175"/>
            <a:ext cx="8066432" cy="86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92"/>
              </a:lnSpc>
            </a:pPr>
            <a:r>
              <a:rPr lang="en-US" sz="7200" spc="-201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La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595" y="3073870"/>
            <a:ext cx="1156234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Aplicación móvil que combina una enciclopedia interactiva de flora y fauna chilena con identificación visual de especies mediante cámara.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2595" y="4174002"/>
            <a:ext cx="1151483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Interfaz inspirada en el formato Pokédex, haciendo la experiencia intuitiva y atractiva para el público general.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2595" y="5272552"/>
            <a:ext cx="11514836" cy="9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724"/>
              </a:lnSpc>
              <a:buFont typeface="Arial"/>
              <a:buChar char="•"/>
            </a:pPr>
            <a:r>
              <a:rPr lang="en-US" sz="2499" spc="-14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No existe actualmente una herramienta digital en español que unifique la flora y fauna chilena de manera centralizada.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55674" y="6132266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29" y="0"/>
                </a:moveTo>
                <a:lnTo>
                  <a:pt x="0" y="0"/>
                </a:lnTo>
                <a:lnTo>
                  <a:pt x="0" y="7002243"/>
                </a:lnTo>
                <a:lnTo>
                  <a:pt x="3509329" y="7002243"/>
                </a:lnTo>
                <a:lnTo>
                  <a:pt x="35093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77422" y="4188302"/>
            <a:ext cx="10733157" cy="2915185"/>
            <a:chOff x="0" y="0"/>
            <a:chExt cx="14310876" cy="38869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73957"/>
              <a:ext cx="1771357" cy="1771357"/>
            </a:xfrm>
            <a:custGeom>
              <a:avLst/>
              <a:gdLst/>
              <a:ahLst/>
              <a:cxnLst/>
              <a:rect r="r" b="b" t="t" l="l"/>
              <a:pathLst>
                <a:path h="1771357" w="1771357">
                  <a:moveTo>
                    <a:pt x="0" y="0"/>
                  </a:moveTo>
                  <a:lnTo>
                    <a:pt x="1771357" y="0"/>
                  </a:lnTo>
                  <a:lnTo>
                    <a:pt x="1771357" y="1771358"/>
                  </a:lnTo>
                  <a:lnTo>
                    <a:pt x="0" y="1771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3571" y="76200"/>
              <a:ext cx="1604216" cy="441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36"/>
                </a:lnSpc>
              </a:pPr>
              <a:r>
                <a:rPr lang="en-US" sz="2600" spc="-72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Frontend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46531" y="3482036"/>
              <a:ext cx="1078295" cy="404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64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Flutter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5988039" y="1287117"/>
              <a:ext cx="1945039" cy="1945039"/>
            </a:xfrm>
            <a:custGeom>
              <a:avLst/>
              <a:gdLst/>
              <a:ahLst/>
              <a:cxnLst/>
              <a:rect r="r" b="b" t="t" l="l"/>
              <a:pathLst>
                <a:path h="1945039" w="1945039">
                  <a:moveTo>
                    <a:pt x="0" y="0"/>
                  </a:moveTo>
                  <a:lnTo>
                    <a:pt x="1945039" y="0"/>
                  </a:lnTo>
                  <a:lnTo>
                    <a:pt x="1945039" y="1945038"/>
                  </a:lnTo>
                  <a:lnTo>
                    <a:pt x="0" y="1945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6158450" y="76200"/>
              <a:ext cx="1604216" cy="441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36"/>
                </a:lnSpc>
              </a:pPr>
              <a:r>
                <a:rPr lang="en-US" sz="2600" spc="-72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Backend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653566" y="3482036"/>
              <a:ext cx="2613985" cy="404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64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Python (FastAPI)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12217961" y="1442159"/>
              <a:ext cx="1634954" cy="1634954"/>
            </a:xfrm>
            <a:custGeom>
              <a:avLst/>
              <a:gdLst/>
              <a:ahLst/>
              <a:cxnLst/>
              <a:rect r="r" b="b" t="t" l="l"/>
              <a:pathLst>
                <a:path h="1634954" w="1634954">
                  <a:moveTo>
                    <a:pt x="0" y="0"/>
                  </a:moveTo>
                  <a:lnTo>
                    <a:pt x="1634955" y="0"/>
                  </a:lnTo>
                  <a:lnTo>
                    <a:pt x="1634955" y="1634954"/>
                  </a:lnTo>
                  <a:lnTo>
                    <a:pt x="0" y="1634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760001" y="76200"/>
              <a:ext cx="2550874" cy="441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36"/>
                </a:lnSpc>
              </a:pPr>
              <a:r>
                <a:rPr lang="en-US" sz="2600" spc="-72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Base de datos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349321" y="3482036"/>
              <a:ext cx="1372234" cy="404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64"/>
                </a:lnSpc>
              </a:pPr>
              <a:r>
                <a:rPr lang="en-US" sz="2400" spc="-67">
                  <a:solidFill>
                    <a:srgbClr val="4C4141"/>
                  </a:solidFill>
                  <a:latin typeface="Belleza"/>
                  <a:ea typeface="Belleza"/>
                  <a:cs typeface="Belleza"/>
                  <a:sym typeface="Belleza"/>
                </a:rPr>
                <a:t>Firebase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2379458">
            <a:off x="5684552" y="5214674"/>
            <a:ext cx="1847026" cy="1468386"/>
          </a:xfrm>
          <a:custGeom>
            <a:avLst/>
            <a:gdLst/>
            <a:ahLst/>
            <a:cxnLst/>
            <a:rect r="r" b="b" t="t" l="l"/>
            <a:pathLst>
              <a:path h="1468386" w="1847026">
                <a:moveTo>
                  <a:pt x="0" y="0"/>
                </a:moveTo>
                <a:lnTo>
                  <a:pt x="1847026" y="0"/>
                </a:lnTo>
                <a:lnTo>
                  <a:pt x="1847026" y="1468386"/>
                </a:lnTo>
                <a:lnTo>
                  <a:pt x="0" y="1468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2595" y="1813175"/>
            <a:ext cx="8066432" cy="86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92"/>
              </a:lnSpc>
            </a:pPr>
            <a:r>
              <a:rPr lang="en-US" sz="7200" spc="-201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Tecnología a utilizar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2379458">
            <a:off x="10351278" y="5214674"/>
            <a:ext cx="1847026" cy="1468386"/>
          </a:xfrm>
          <a:custGeom>
            <a:avLst/>
            <a:gdLst/>
            <a:ahLst/>
            <a:cxnLst/>
            <a:rect r="r" b="b" t="t" l="l"/>
            <a:pathLst>
              <a:path h="1468386" w="1847026">
                <a:moveTo>
                  <a:pt x="0" y="0"/>
                </a:moveTo>
                <a:lnTo>
                  <a:pt x="1847026" y="0"/>
                </a:lnTo>
                <a:lnTo>
                  <a:pt x="1847026" y="1468386"/>
                </a:lnTo>
                <a:lnTo>
                  <a:pt x="0" y="1468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55674" y="6132266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29" y="0"/>
                </a:moveTo>
                <a:lnTo>
                  <a:pt x="0" y="0"/>
                </a:lnTo>
                <a:lnTo>
                  <a:pt x="0" y="7002243"/>
                </a:lnTo>
                <a:lnTo>
                  <a:pt x="3509329" y="7002243"/>
                </a:lnTo>
                <a:lnTo>
                  <a:pt x="35093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92595" y="1813175"/>
            <a:ext cx="8066432" cy="86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92"/>
              </a:lnSpc>
            </a:pPr>
            <a:r>
              <a:rPr lang="en-US" sz="7200" spc="-201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Bibliografía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2595" y="2820761"/>
            <a:ext cx="12663079" cy="265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Información: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Ministerio de Salud. (2025, 12 de agosto). MINSAL presentó resultados de la ENCAVI 2023-2024 proporcionando una línea base crucial para futuras evaluaciones.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5" tooltip="https://www.minsal.cl/minsal-presento-resultados-de-la-encavi-2023-2024-proporcionando-una-linea-base-crucial-para-futuras-evaluaciones-2/"/>
              </a:rPr>
              <a:t>https://www.minsal.cl/minsal-presento-resultados-de-la-encavi-2023-2024-proporcionando-una-linea-base-crucial-para-futuras-evaluaciones-2/</a:t>
            </a: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Dirección de Estudios Sociales UC. (2025, 11 de agosto). ENCAVI: Resultados. Blog DESUC.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6" tooltip="https://blog.desuc.cl/posts/2025-08-11-encavi-resultados/encavi_resultados.html"/>
              </a:rPr>
              <a:t>https://blog.desuc.cl/posts/2025-08-11-encavi-resultados/encavi_resultados.html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Ciencia en Chile. (2026, 30 de marzo). Estudio revela brechas en el conocimiento de la biodiversidad en la provincia de Concepción.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7" tooltip="https://www.cienciaenchile.cl/estudio-revela-brechas-en-el-conocimiento-de-la-biodiversidad-en-la-provincia-de-concepcion"/>
              </a:rPr>
              <a:t>https://www.cienciaenchile.cl/estudio-revela-brechas-en-el-conocimiento-de-la-biodiversidad-en-la-provincia-de-concepcion</a:t>
            </a: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55674" y="6132266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3509329" y="0"/>
                </a:moveTo>
                <a:lnTo>
                  <a:pt x="0" y="0"/>
                </a:lnTo>
                <a:lnTo>
                  <a:pt x="0" y="7002243"/>
                </a:lnTo>
                <a:lnTo>
                  <a:pt x="3509329" y="7002243"/>
                </a:lnTo>
                <a:lnTo>
                  <a:pt x="35093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92595" y="1813175"/>
            <a:ext cx="8066432" cy="86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92"/>
              </a:lnSpc>
            </a:pPr>
            <a:r>
              <a:rPr lang="en-US" sz="7200" spc="-201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Bibliografía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2595" y="2820761"/>
            <a:ext cx="12663079" cy="465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Imágenes: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Museo de Historia Natural de Concepción. (s. f.). El abejorro colorado [Fotografía/Artículo]. Ministerio de las Culturas, las Artes y el Patrimonio.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5" tooltip="https://www.mhnconcepcion.gob.cl/noticias/el-abejorro-colorado"/>
              </a:rPr>
              <a:t>https://www.mhnconcepcion.gob.cl/noticias/el-abejorro-colorado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Meteored Chile. (s. f.). La flor que espera bajo tierra: Así sobrevive la añañuca antes de estallar en color en el Norte Chico [Fotografía/Noticia].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6" tooltip="https://www.meteored.cl/noticias/plantas/la-flor-que-espera-bajo-tierra-asi-sobrevive-la-ananuca-antes-de-estallar-en-color-en-el-norte-chico.html"/>
              </a:rPr>
              <a:t>https://www.meteored.cl/noticias/plantas/la-flor-que-espera-bajo-tierra-asi-sobrevive-la-ananuca-antes-de-estallar-en-color-en-el-norte-chico.html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Fundación Buin Zoo. (s. f.). Zorro de Darwin [Fotografía/Ficha de especie].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7" tooltip="https://fundacion.buinzoo.cl/zorro-de-darwin/"/>
              </a:rPr>
              <a:t>https://fundacion.buinzoo.cl/zorro-de-darwin/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eBird. (s. f.). Turca (Pteroptochos megapodius) [Fotografía/Ficha de especie]. Cornell Lab of Ornithology.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8" tooltip="https://ebird.org/species/moutur1?siteLanguage=es_CL&amp;continue"/>
              </a:rPr>
              <a:t>https://ebird.org/species/moutur1?siteLanguage=es_CL&amp;continue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Ministerio del Medio Ambiente. (2020, 8 de mayo). Implementan acciones de mitigación para conservar árbol más amenazado de Chile: El Ruil [Fotografía/Noticia].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9" tooltip="https://mma.gob.cl/implementan-acciones-de-mitigacion-para-conservar-arbol-mas-amenazado-de-chile-el-ruil/"/>
              </a:rPr>
              <a:t>https://mma.gob.cl/implementan-acciones-de-mitigacion-para-conservar-arbol-mas-amenazado-de-chile-el-ruil/</a:t>
            </a: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</a:p>
          <a:p>
            <a:pPr algn="l" marL="388620" indent="-194310" lvl="1">
              <a:lnSpc>
                <a:spcPts val="2682"/>
              </a:lnSpc>
              <a:buAutoNum type="arabicPeriod" startAt="1"/>
            </a:pPr>
            <a:r>
              <a:rPr lang="en-US" sz="1800" spc="-10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Baliero, W. (s. f.). Queltehue/Treile [Tablero de Pinterest]. Pinterest. Recuperado el 17 de agosto de 2026, de </a:t>
            </a:r>
            <a:r>
              <a:rPr lang="en-US" sz="1800" spc="-10" u="sng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  <a:hlinkClick r:id="rId10" tooltip="https://cl.pinterest.com/juarrsal/queltehue-treile/"/>
              </a:rPr>
              <a:t>https://cl.pinterest.com/juarrsal/queltehue-treile/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7819" y="3160844"/>
            <a:ext cx="9573355" cy="249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3"/>
              </a:lnSpc>
            </a:pPr>
            <a:r>
              <a:rPr lang="en-US" sz="9680" spc="-271">
                <a:solidFill>
                  <a:srgbClr val="4C4141"/>
                </a:solidFill>
                <a:latin typeface="Belleza"/>
                <a:ea typeface="Belleza"/>
                <a:cs typeface="Belleza"/>
                <a:sym typeface="Belleza"/>
              </a:rPr>
              <a:t>MUCHAS 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81520" y="2787841"/>
            <a:ext cx="5950474" cy="3696110"/>
          </a:xfrm>
          <a:custGeom>
            <a:avLst/>
            <a:gdLst/>
            <a:ahLst/>
            <a:cxnLst/>
            <a:rect r="r" b="b" t="t" l="l"/>
            <a:pathLst>
              <a:path h="3696110" w="5950474">
                <a:moveTo>
                  <a:pt x="0" y="0"/>
                </a:moveTo>
                <a:lnTo>
                  <a:pt x="5950474" y="0"/>
                </a:lnTo>
                <a:lnTo>
                  <a:pt x="5950474" y="3696109"/>
                </a:lnTo>
                <a:lnTo>
                  <a:pt x="0" y="369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34499" y="4958639"/>
            <a:ext cx="3509329" cy="7002242"/>
          </a:xfrm>
          <a:custGeom>
            <a:avLst/>
            <a:gdLst/>
            <a:ahLst/>
            <a:cxnLst/>
            <a:rect r="r" b="b" t="t" l="l"/>
            <a:pathLst>
              <a:path h="7002242" w="3509329">
                <a:moveTo>
                  <a:pt x="0" y="0"/>
                </a:moveTo>
                <a:lnTo>
                  <a:pt x="3509329" y="0"/>
                </a:lnTo>
                <a:lnTo>
                  <a:pt x="3509329" y="7002243"/>
                </a:lnTo>
                <a:lnTo>
                  <a:pt x="0" y="7002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675831" y="452261"/>
            <a:ext cx="3583469" cy="1152878"/>
          </a:xfrm>
          <a:custGeom>
            <a:avLst/>
            <a:gdLst/>
            <a:ahLst/>
            <a:cxnLst/>
            <a:rect r="r" b="b" t="t" l="l"/>
            <a:pathLst>
              <a:path h="1152878" w="3583469">
                <a:moveTo>
                  <a:pt x="0" y="0"/>
                </a:moveTo>
                <a:lnTo>
                  <a:pt x="3583469" y="0"/>
                </a:lnTo>
                <a:lnTo>
                  <a:pt x="3583469" y="1152878"/>
                </a:lnTo>
                <a:lnTo>
                  <a:pt x="0" y="1152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DAHSfTi_4fI</dc:identifier>
  <dcterms:modified xsi:type="dcterms:W3CDTF">2011-08-01T06:04:30Z</dcterms:modified>
  <cp:revision>1</cp:revision>
  <dc:title>PRIMERA PRESENTACIÓN CAPSTONE - 18/08/2026</dc:title>
</cp:coreProperties>
</file>